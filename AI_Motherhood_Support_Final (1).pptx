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309360" y="457200"/>
            <a:ext cx="256032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594360"/>
            <a:ext cx="8138160" cy="3200400"/>
          </a:xfrm>
          <a:prstGeom prst="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0" dist="762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82296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8229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2025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170432"/>
            <a:ext cx="7589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AI-Enabled Motherhood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0D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System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2560320" y="2907792"/>
            <a:ext cx="4023360" cy="4572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9992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Pregnancy Tracker &amp; Health Advisor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4005072"/>
            <a:ext cx="5120640" cy="841248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0416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4360" y="4370832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Shehzad Khan  ·  Ryan Javed  ·  Shivam Saroj  ·  Vinay Singh Yadav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97880" y="4005072"/>
            <a:ext cx="2834640" cy="84124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4041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89320" y="43159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Ms. Ayushi Mittal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8321040" y="38404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5212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AI-Enabled Motherhood Support System is a smart web-based platform built to assist expecting mothers throughout their entire pregnancy journey.</a:t>
            </a:r>
            <a:endParaRPr lang="en-US" sz="1350" dirty="0"/>
          </a:p>
          <a:p>
            <a:pPr algn="just" indent="0" marL="0">
              <a:lnSpc>
                <a:spcPct val="130000"/>
              </a:lnSpc>
              <a:buNone/>
            </a:pPr>
            <a:endParaRPr lang="en-US" sz="1350" dirty="0"/>
          </a:p>
          <a:p>
            <a:pPr algn="just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Artificial Intelligence, Machine Learning, and modern web technologies, it delivers personalized health guidance, real-time progress tracking, and emergency connectivity — all within a single, easy-to-use interface.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914400"/>
            <a:ext cx="2926080" cy="100584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1069848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98755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+ ML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720840" y="14813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2057400"/>
            <a:ext cx="29260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212848"/>
            <a:ext cx="658368" cy="6583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0840" y="213055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Expecting Moms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720840" y="26243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852160" y="3200400"/>
            <a:ext cx="2926080" cy="1005840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3355848"/>
            <a:ext cx="658368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327355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Pregnancy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720840" y="37673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4224528"/>
            <a:ext cx="5303520" cy="36576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65760" y="43159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mother deserves smart, accessible healthcare support throughout her pregnancy."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Pregnant women globally face significant gaps in maternal healthcare access: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71600"/>
            <a:ext cx="4160520" cy="73152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536192"/>
            <a:ext cx="566928" cy="566928"/>
          </a:xfrm>
          <a:prstGeom prst="ellipse">
            <a:avLst/>
          </a:prstGeom>
          <a:solidFill>
            <a:srgbClr val="E05C7A">
              <a:alpha val="85000"/>
            </a:srgbClr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72768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61288" y="15361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Personalized Monitoring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61288" y="1883664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apps fail to offer trimester-specific health tracking tailored to each individual mother's profile and condition.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90872" y="13716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90872" y="1371600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55464" y="1536192"/>
            <a:ext cx="566928" cy="566928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72768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32120" y="15361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Tracking Difficulties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1883664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daily exercise, water intake targets, and fetal development milestones is challenging without intelligent reminders.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20040" y="29718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2971800"/>
            <a:ext cx="4160520" cy="73152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4632" y="3136392"/>
            <a:ext cx="566928" cy="566928"/>
          </a:xfrm>
          <a:prstGeom prst="ellipse">
            <a:avLst/>
          </a:prstGeom>
          <a:solidFill>
            <a:srgbClr val="0A6E65">
              <a:alpha val="85000"/>
            </a:srgbClr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172968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61288" y="31363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Real-Time Support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161288" y="3483864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Mothers often lack access to medical professionals during non-clinic hours, especially in rural and underserved regions.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690872" y="297180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690872" y="2971800"/>
            <a:ext cx="4160520" cy="73152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55464" y="3136392"/>
            <a:ext cx="566928" cy="566928"/>
          </a:xfrm>
          <a:prstGeom prst="ellipse">
            <a:avLst/>
          </a:prstGeom>
          <a:solidFill>
            <a:srgbClr val="E05C7A">
              <a:alpha val="85000"/>
            </a:srgbClr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72968"/>
            <a:ext cx="475488" cy="4754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32120" y="31363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Disease Detection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532120" y="3483864"/>
            <a:ext cx="3200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like gestational diabetes and preeclampsia often go undetected until they become critical without early AI screening.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provides five AI-powered modules addressing every stage of pregnancy: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89888"/>
            <a:ext cx="502920" cy="585216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89888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53896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44752" y="1426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Month-Wise Exercise Planning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44752" y="1691640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trimester-safe workout plans updated each month to maintain fitness and reduce complications.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2048256"/>
            <a:ext cx="8503920" cy="585216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048256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048256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12264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44752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Embryo Development Tracking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444752" y="2350008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fetal growth visualization with health tips, size comparisons, and milestone alerts.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20040" y="2706624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0040" y="2706624"/>
            <a:ext cx="502920" cy="585216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2706624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70632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Intake Tracker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444752" y="3008376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hydration goals by trimester and body weight, with smart reminders and progress tracking.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320040" y="3364992"/>
            <a:ext cx="8503920" cy="585216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3364992"/>
            <a:ext cx="502920" cy="585216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20040" y="3364992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44752" y="3401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Disease Prediction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444752" y="3666744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analyzes health reports and symptoms to flag risks early and suggest medical consultation.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320040" y="4023360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20040" y="4023360"/>
            <a:ext cx="50292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20040" y="4023360"/>
            <a:ext cx="5029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87368"/>
            <a:ext cx="438912" cy="4389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444752" y="40599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Call Feature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444752" y="4325112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connects to the nearest on-call doctor and shares real-time location with emergency contacts.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96112"/>
            <a:ext cx="2029968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" y="978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/ Register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146304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profiles with medical history &amp; personalised dashboard.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432304" y="89611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32304" y="896112"/>
            <a:ext cx="20299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9601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62656" y="978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Pregnancy Dashboard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42032" y="146304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trimester overview with milestones &amp; appointment reminders.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608576" y="89611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08576" y="896112"/>
            <a:ext cx="2029968" cy="50292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9601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978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Exercise Guidance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18304" y="146304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safe workout plans adapted to fitness level.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784848" y="89611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84848" y="896112"/>
            <a:ext cx="2029968" cy="502920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9601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97840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Tracker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894576" y="146304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hydration goals with glass-by-glass tracking &amp; alerts.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256032" y="290779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56032" y="2907792"/>
            <a:ext cx="20299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97180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86384" y="2990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Embryo Visualisations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65760" y="347472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fetal growth guide with week-wise care tips.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2432304" y="290779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2432304" y="2907792"/>
            <a:ext cx="2029968" cy="50292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032" y="297180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962656" y="2990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Prediction AI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2542032" y="347472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reports; AI returns risk assessment &amp; recommendations.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4608576" y="290779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608576" y="2907792"/>
            <a:ext cx="2029968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2971800"/>
            <a:ext cx="365760" cy="3657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138928" y="2990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Contact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4718304" y="347472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 triggers doctor call &amp; shares GPS location instantly.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6784848" y="2907792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6784848" y="2907792"/>
            <a:ext cx="2029968" cy="502920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4576" y="2971800"/>
            <a:ext cx="365760" cy="36576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315200" y="2990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Notifications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6894576" y="3474720"/>
            <a:ext cx="18288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Appointment, water &amp; daily health tip reminders sent proactively.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Workflow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157276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97280"/>
            <a:ext cx="868680" cy="868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" y="1993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" y="26517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profile with medical history &amp; due date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773936" y="1572768"/>
            <a:ext cx="192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C9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965960" y="1005840"/>
            <a:ext cx="1572768" cy="1572768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1097280"/>
            <a:ext cx="8686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1993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856232" y="26517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symptoms, water, exercise &amp; uploads reports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38728" y="1572768"/>
            <a:ext cx="192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C9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730752" y="1005840"/>
            <a:ext cx="1572768" cy="157276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1097280"/>
            <a:ext cx="868680" cy="8686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30752" y="1993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621024" y="26517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analyses data &amp; predicts health risks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303520" y="1572768"/>
            <a:ext cx="192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C9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5495544" y="1005840"/>
            <a:ext cx="157276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1097280"/>
            <a:ext cx="868680" cy="8686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95544" y="1993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85816" y="26517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exercise, hydration &amp; fetal views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068312" y="1572768"/>
            <a:ext cx="192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C4C9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260336" y="1005840"/>
            <a:ext cx="1572768" cy="15727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097280"/>
            <a:ext cx="868680" cy="8686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60336" y="19933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150608" y="265176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gets alerts &amp; reviews patient records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20040" y="3401568"/>
            <a:ext cx="8503920" cy="36576"/>
          </a:xfrm>
          <a:prstGeom prst="rect">
            <a:avLst/>
          </a:prstGeom>
          <a:solidFill>
            <a:srgbClr val="CCEDE9"/>
          </a:solidFill>
          <a:ln w="12700">
            <a:solidFill>
              <a:srgbClr val="CCEDE9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65760" y="34930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 runs continuously — analysing inputs, tracking fetal development, and sending real-time alerts to both mother and doctor.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320040" y="4078224"/>
            <a:ext cx="8503920" cy="6217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33088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05840" y="411480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Side:  Receives health alerts  ·  Reviews AI risk reports  ·  Views patient history  ·  Available for emergency calls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with Existing Applications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278892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424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987552"/>
            <a:ext cx="150876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10424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987552"/>
            <a:ext cx="150876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04241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BabyCenter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987552"/>
            <a:ext cx="233172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0424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1408176"/>
            <a:ext cx="27889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408176"/>
            <a:ext cx="2679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Health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1408176"/>
            <a:ext cx="1508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517904"/>
            <a:ext cx="256032" cy="25603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617720" y="1408176"/>
            <a:ext cx="1508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17904"/>
            <a:ext cx="256032" cy="25603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26480" y="1408176"/>
            <a:ext cx="2331720" cy="484632"/>
          </a:xfrm>
          <a:prstGeom prst="rect">
            <a:avLst/>
          </a:prstGeom>
          <a:solidFill>
            <a:srgbClr val="E6F7F4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1790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10528" y="1408176"/>
            <a:ext cx="18928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AI-Powered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" y="1892808"/>
            <a:ext cx="278892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1892808"/>
            <a:ext cx="2679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Embryo Development Tracking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108960" y="1892808"/>
            <a:ext cx="150876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182112" y="1892808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4617720" y="1892808"/>
            <a:ext cx="150876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02536"/>
            <a:ext cx="256032" cy="25603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6126480" y="1892808"/>
            <a:ext cx="2331720" cy="484632"/>
          </a:xfrm>
          <a:prstGeom prst="rect">
            <a:avLst/>
          </a:prstGeom>
          <a:solidFill>
            <a:srgbClr val="D1F0EA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002536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510528" y="1892808"/>
            <a:ext cx="18928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+ AI Insights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320040" y="2377440"/>
            <a:ext cx="27889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11480" y="2377440"/>
            <a:ext cx="2679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&amp; Exercise Tracker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3108960" y="2377440"/>
            <a:ext cx="1508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182112" y="2377440"/>
            <a:ext cx="141732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4617720" y="2377440"/>
            <a:ext cx="1508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87168"/>
            <a:ext cx="256032" cy="25603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126480" y="2377440"/>
            <a:ext cx="2331720" cy="484632"/>
          </a:xfrm>
          <a:prstGeom prst="rect">
            <a:avLst/>
          </a:prstGeom>
          <a:solidFill>
            <a:srgbClr val="E6F7F4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2487168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510528" y="2377440"/>
            <a:ext cx="18928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&amp; Month-Wise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320040" y="2862072"/>
            <a:ext cx="278892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411480" y="2862072"/>
            <a:ext cx="2679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Emergency Call Feature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3108960" y="2862072"/>
            <a:ext cx="150876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2971800"/>
            <a:ext cx="256032" cy="256032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4617720" y="2862072"/>
            <a:ext cx="150876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971800"/>
            <a:ext cx="256032" cy="256032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6126480" y="2862072"/>
            <a:ext cx="2331720" cy="484632"/>
          </a:xfrm>
          <a:prstGeom prst="rect">
            <a:avLst/>
          </a:prstGeom>
          <a:solidFill>
            <a:srgbClr val="D1F0EA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632" y="2971800"/>
            <a:ext cx="256032" cy="256032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510528" y="2862072"/>
            <a:ext cx="18928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One-Tap SOS</a:t>
            </a:r>
            <a:endParaRPr lang="en-US" sz="1100" dirty="0"/>
          </a:p>
        </p:txBody>
      </p:sp>
      <p:sp>
        <p:nvSpPr>
          <p:cNvPr id="52" name="Shape 40"/>
          <p:cNvSpPr/>
          <p:nvPr/>
        </p:nvSpPr>
        <p:spPr>
          <a:xfrm>
            <a:off x="320040" y="3346704"/>
            <a:ext cx="27889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411480" y="3346704"/>
            <a:ext cx="2679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from Reports</a:t>
            </a:r>
            <a:endParaRPr lang="en-US" sz="1200" dirty="0"/>
          </a:p>
        </p:txBody>
      </p:sp>
      <p:sp>
        <p:nvSpPr>
          <p:cNvPr id="54" name="Shape 42"/>
          <p:cNvSpPr/>
          <p:nvPr/>
        </p:nvSpPr>
        <p:spPr>
          <a:xfrm>
            <a:off x="3108960" y="3346704"/>
            <a:ext cx="1508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7560" y="3456432"/>
            <a:ext cx="256032" cy="256032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4617720" y="3346704"/>
            <a:ext cx="15087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3456432"/>
            <a:ext cx="256032" cy="2560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126480" y="3346704"/>
            <a:ext cx="2331720" cy="484632"/>
          </a:xfrm>
          <a:prstGeom prst="rect">
            <a:avLst/>
          </a:prstGeom>
          <a:solidFill>
            <a:srgbClr val="E6F7F4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9632" y="3456432"/>
            <a:ext cx="256032" cy="256032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6510528" y="3346704"/>
            <a:ext cx="18928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ML Prediction Engine</a:t>
            </a:r>
            <a:endParaRPr lang="en-US" sz="1100" dirty="0"/>
          </a:p>
        </p:txBody>
      </p:sp>
      <p:sp>
        <p:nvSpPr>
          <p:cNvPr id="61" name="Shape 46"/>
          <p:cNvSpPr/>
          <p:nvPr/>
        </p:nvSpPr>
        <p:spPr>
          <a:xfrm>
            <a:off x="320040" y="3831336"/>
            <a:ext cx="278892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62" name="Text 47"/>
          <p:cNvSpPr/>
          <p:nvPr/>
        </p:nvSpPr>
        <p:spPr>
          <a:xfrm>
            <a:off x="411480" y="3831336"/>
            <a:ext cx="2679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Trimester Plans</a:t>
            </a:r>
            <a:endParaRPr lang="en-US" sz="1200" dirty="0"/>
          </a:p>
        </p:txBody>
      </p:sp>
      <p:sp>
        <p:nvSpPr>
          <p:cNvPr id="63" name="Shape 48"/>
          <p:cNvSpPr/>
          <p:nvPr/>
        </p:nvSpPr>
        <p:spPr>
          <a:xfrm>
            <a:off x="3108960" y="3831336"/>
            <a:ext cx="150876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7560" y="3941064"/>
            <a:ext cx="256032" cy="256032"/>
          </a:xfrm>
          <a:prstGeom prst="rect">
            <a:avLst/>
          </a:prstGeom>
        </p:spPr>
      </p:pic>
      <p:sp>
        <p:nvSpPr>
          <p:cNvPr id="65" name="Shape 49"/>
          <p:cNvSpPr/>
          <p:nvPr/>
        </p:nvSpPr>
        <p:spPr>
          <a:xfrm>
            <a:off x="4617720" y="3831336"/>
            <a:ext cx="1508760" cy="484632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3941064"/>
            <a:ext cx="256032" cy="256032"/>
          </a:xfrm>
          <a:prstGeom prst="rect">
            <a:avLst/>
          </a:prstGeom>
        </p:spPr>
      </p:pic>
      <p:sp>
        <p:nvSpPr>
          <p:cNvPr id="67" name="Shape 50"/>
          <p:cNvSpPr/>
          <p:nvPr/>
        </p:nvSpPr>
        <p:spPr>
          <a:xfrm>
            <a:off x="6126480" y="3831336"/>
            <a:ext cx="2331720" cy="484632"/>
          </a:xfrm>
          <a:prstGeom prst="rect">
            <a:avLst/>
          </a:prstGeom>
          <a:solidFill>
            <a:srgbClr val="D1F0EA"/>
          </a:solidFill>
          <a:ln w="6350">
            <a:solidFill>
              <a:srgbClr val="E8F0F2"/>
            </a:solidFill>
            <a:prstDash val="solid"/>
          </a:ln>
        </p:spPr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9632" y="3941064"/>
            <a:ext cx="256032" cy="256032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6510528" y="3831336"/>
            <a:ext cx="189280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Month-by-Month Plans</a:t>
            </a:r>
            <a:endParaRPr lang="en-US" sz="1100" dirty="0"/>
          </a:p>
        </p:txBody>
      </p:sp>
      <p:sp>
        <p:nvSpPr>
          <p:cNvPr id="70" name="Text 52"/>
          <p:cNvSpPr/>
          <p:nvPr/>
        </p:nvSpPr>
        <p:spPr>
          <a:xfrm>
            <a:off x="365760" y="431596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integrates AI for smart decision support, real-time alerts, and seamless doctor involvement — a significantly more holistic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Data Sources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validated using diverse, medically-vetted datasets from Kaggle, WHO &amp; research publications: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71600"/>
            <a:ext cx="416052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36192"/>
            <a:ext cx="530352" cy="530352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54480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1536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Dataset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84632" y="1965960"/>
            <a:ext cx="385876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pregnancy exercise recommendations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workout types per trimester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levels by gestational week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90872" y="1371600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90872" y="1371600"/>
            <a:ext cx="4160520" cy="82296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28032" y="1536192"/>
            <a:ext cx="530352" cy="530352"/>
          </a:xfrm>
          <a:prstGeom prst="ellipse">
            <a:avLst/>
          </a:prstGeom>
          <a:solidFill>
            <a:srgbClr val="E05C7A">
              <a:alpha val="85000"/>
            </a:srgbClr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554480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68112" y="1536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 Data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855464" y="1965960"/>
            <a:ext cx="385876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WHO-recommended water intake by trimester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weight–adjusted daily targets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&amp; activity-level adjustments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20040" y="3035808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035808"/>
            <a:ext cx="4160520" cy="82296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57200" y="3200400"/>
            <a:ext cx="530352" cy="530352"/>
          </a:xfrm>
          <a:prstGeom prst="ellipse">
            <a:avLst/>
          </a:prstGeom>
          <a:solidFill>
            <a:srgbClr val="0A6E65">
              <a:alpha val="85000"/>
            </a:srgbClr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18688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Fetal Growth Data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484632" y="3630168"/>
            <a:ext cx="385876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Week-wise embryo size, weight &amp; organ dev.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standard obstetric medical references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alerts for each developmental stage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690872" y="3035808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690872" y="3035808"/>
            <a:ext cx="4160520" cy="82296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28032" y="3200400"/>
            <a:ext cx="530352" cy="530352"/>
          </a:xfrm>
          <a:prstGeom prst="ellipse">
            <a:avLst/>
          </a:prstGeom>
          <a:solidFill>
            <a:srgbClr val="E05C7A">
              <a:alpha val="85000"/>
            </a:srgbClr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218688"/>
            <a:ext cx="475488" cy="4754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68112" y="32004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Prediction Data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4855464" y="3630168"/>
            <a:ext cx="385876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health reports + symptom–risk pairs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gestational diabetes, preeclampsia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Kaggle + peer-reviewed papers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41605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149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1024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138074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380744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React.js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4632" y="1709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library for interactive dashboards &amp; tracker views.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2157984"/>
            <a:ext cx="4160520" cy="749808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2157984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84632" y="2487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framework for responsive, consistent UI styling.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90872" y="960120"/>
            <a:ext cx="4160520" cy="420624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014984"/>
            <a:ext cx="310896" cy="31089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6360" y="1024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Layer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690872" y="138074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90872" y="1380744"/>
            <a:ext cx="64008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55464" y="1435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855464" y="1709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JavaScript runtime for API handling &amp; business logic.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90872" y="2157984"/>
            <a:ext cx="4160520" cy="749808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90872" y="2157984"/>
            <a:ext cx="64008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55464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Express.js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855464" y="24871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web framework for building fast, scalable REST APIs.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320040" y="2971800"/>
            <a:ext cx="4160520" cy="420624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26664"/>
            <a:ext cx="310896" cy="31089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95528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Layer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320040" y="339242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20040" y="3392424"/>
            <a:ext cx="64008" cy="749808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4632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484632" y="37216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used for training ML disease prediction models.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320040" y="4169664"/>
            <a:ext cx="4160520" cy="749808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20040" y="4169664"/>
            <a:ext cx="64008" cy="749808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84632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 / TensorFlow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484632" y="4498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for building and deploying predictive AI models.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4690872" y="2971800"/>
            <a:ext cx="4160520" cy="42062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026664"/>
            <a:ext cx="310896" cy="31089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166360" y="30358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&amp; Design Layer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4690872" y="3392424"/>
            <a:ext cx="4160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4690872" y="3392424"/>
            <a:ext cx="64008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855464" y="3447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</a:t>
            </a:r>
            <a:endParaRPr lang="en-US" sz="1250" dirty="0"/>
          </a:p>
        </p:txBody>
      </p:sp>
      <p:sp>
        <p:nvSpPr>
          <p:cNvPr id="47" name="Text 41"/>
          <p:cNvSpPr/>
          <p:nvPr/>
        </p:nvSpPr>
        <p:spPr>
          <a:xfrm>
            <a:off x="4855464" y="37216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for storing user health records, tracking logs &amp; reports.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4690872" y="4169664"/>
            <a:ext cx="4160520" cy="749808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4690872" y="4169664"/>
            <a:ext cx="64008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855464" y="4224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Figma &amp; Canva</a:t>
            </a:r>
            <a:endParaRPr lang="en-US" sz="1250" dirty="0"/>
          </a:p>
        </p:txBody>
      </p:sp>
      <p:sp>
        <p:nvSpPr>
          <p:cNvPr id="51" name="Text 45"/>
          <p:cNvSpPr/>
          <p:nvPr/>
        </p:nvSpPr>
        <p:spPr>
          <a:xfrm>
            <a:off x="4855464" y="4498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prototyping and design tools for mockups &amp; visual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Modules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2816352" cy="3767328"/>
          </a:xfrm>
          <a:prstGeom prst="rect">
            <a:avLst/>
          </a:prstGeom>
          <a:solidFill>
            <a:srgbClr val="FFFFFF"/>
          </a:solidFill>
          <a:ln w="19050">
            <a:solidFill>
              <a:srgbClr val="E05C7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60120"/>
            <a:ext cx="2816352" cy="56692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24128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02412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Predictor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5760" y="1627632"/>
            <a:ext cx="2578608" cy="274320"/>
          </a:xfrm>
          <a:prstGeom prst="rect">
            <a:avLst/>
          </a:prstGeom>
          <a:solidFill>
            <a:srgbClr val="E05C7A">
              <a:alpha val="15000"/>
            </a:srgbClr>
          </a:solidFill>
          <a:ln w="12700">
            <a:solidFill>
              <a:srgbClr val="E05C7A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1655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 Input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20624" y="19568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symptoms + uploaded blood/health reports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2578608" cy="274320"/>
          </a:xfrm>
          <a:prstGeom prst="rect">
            <a:avLst/>
          </a:prstGeom>
          <a:solidFill>
            <a:srgbClr val="E05C7A">
              <a:alpha val="15000"/>
            </a:srgbClr>
          </a:solidFill>
          <a:ln w="12700">
            <a:solidFill>
              <a:srgbClr val="E05C7A">
                <a:alpha val="2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" y="2679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 Output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20624" y="29809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(Low/Medium/High) + medical suggestion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65760" y="3675888"/>
            <a:ext cx="2578608" cy="274320"/>
          </a:xfrm>
          <a:prstGeom prst="rect">
            <a:avLst/>
          </a:prstGeom>
          <a:solidFill>
            <a:srgbClr val="E05C7A">
              <a:alpha val="15000"/>
            </a:srgbClr>
          </a:solidFill>
          <a:ln w="12700">
            <a:solidFill>
              <a:srgbClr val="E05C7A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" y="3703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Model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20624" y="4005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Logistic Regression on Kaggle datasets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18688" y="960120"/>
            <a:ext cx="2816352" cy="3767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18688" y="960120"/>
            <a:ext cx="28163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024128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85616" y="102412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Embryo Growth Tracker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328416" y="1627632"/>
            <a:ext cx="2578608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83280" y="1655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 Input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3383280" y="19568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pregnancy week entered by user on dashboard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328416" y="2651760"/>
            <a:ext cx="2578608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83280" y="2679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 Output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3383280" y="29809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 growth stage, size comparison &amp; weekly health tips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3328416" y="3675888"/>
            <a:ext cx="2578608" cy="2743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383280" y="3703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Model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3383280" y="4005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AI referencing obstetric development databases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181344" y="960120"/>
            <a:ext cx="2816352" cy="3767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A6E6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81344" y="960120"/>
            <a:ext cx="2816352" cy="566928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024128"/>
            <a:ext cx="384048" cy="384048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748272" y="102412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Exercise Recommender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6291072" y="1627632"/>
            <a:ext cx="2578608" cy="274320"/>
          </a:xfrm>
          <a:prstGeom prst="rect">
            <a:avLst/>
          </a:prstGeom>
          <a:solidFill>
            <a:srgbClr val="0A6E65">
              <a:alpha val="15000"/>
            </a:srgbClr>
          </a:solidFill>
          <a:ln w="12700">
            <a:solidFill>
              <a:srgbClr val="0A6E65">
                <a:alpha val="20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45936" y="1655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 Input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6345936" y="19568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month, fitness level &amp; flagged health conditions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6291072" y="2651760"/>
            <a:ext cx="2578608" cy="274320"/>
          </a:xfrm>
          <a:prstGeom prst="rect">
            <a:avLst/>
          </a:prstGeom>
          <a:solidFill>
            <a:srgbClr val="0A6E65">
              <a:alpha val="15000"/>
            </a:srgbClr>
          </a:solidFill>
          <a:ln w="12700">
            <a:solidFill>
              <a:srgbClr val="0A6E65">
                <a:alpha val="2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345936" y="2679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 Output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6345936" y="29809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plan with activities, duration &amp; safety notes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6291072" y="3675888"/>
            <a:ext cx="2578608" cy="274320"/>
          </a:xfrm>
          <a:prstGeom prst="rect">
            <a:avLst/>
          </a:prstGeom>
          <a:solidFill>
            <a:srgbClr val="0A6E65">
              <a:alpha val="15000"/>
            </a:srgbClr>
          </a:solidFill>
          <a:ln w="12700">
            <a:solidFill>
              <a:srgbClr val="0A6E65">
                <a:alpha val="20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345936" y="3703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Model</a:t>
            </a:r>
            <a:endParaRPr lang="en-US" sz="1150" dirty="0"/>
          </a:p>
        </p:txBody>
      </p:sp>
      <p:sp>
        <p:nvSpPr>
          <p:cNvPr id="46" name="Text 41"/>
          <p:cNvSpPr/>
          <p:nvPr/>
        </p:nvSpPr>
        <p:spPr>
          <a:xfrm>
            <a:off x="6345936" y="40050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Knowledge-based AI with ML adjustments from user feedback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87552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60704"/>
            <a:ext cx="566928" cy="15910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60704"/>
            <a:ext cx="56692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18872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78408" y="17007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Collecting Accurate Medical Data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78408" y="2029968"/>
            <a:ext cx="329184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2103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medically verified pregnancy datasets is difficult. We relied on Kaggle, WHO publications, and peer-reviewed obstetric research to ensure data quality and reliability.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90872" y="98755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90872" y="987552"/>
            <a:ext cx="4160520" cy="73152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90872" y="1060704"/>
            <a:ext cx="566928" cy="1591056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90872" y="1060704"/>
            <a:ext cx="56692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49240" y="17007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Explainable AI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349240" y="2029968"/>
            <a:ext cx="329184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49240" y="2103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 must be transparent. We focused on explainable ML models that clearly communicate why a risk level was assigned, building trust with both mothers and doctors.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20040" y="281635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" y="2816352"/>
            <a:ext cx="4160520" cy="73152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0040" y="2889504"/>
            <a:ext cx="566928" cy="1591056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0040" y="2889504"/>
            <a:ext cx="56692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01752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78408" y="35295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Designing a User-Friendly Interface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978408" y="3858768"/>
            <a:ext cx="329184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78408" y="3931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audience includes first-time mothers with varying digital literacy. Multiple Figma prototyping rounds were done to ensure simplicity and broad accessibility.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690872" y="281635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90872" y="2816352"/>
            <a:ext cx="4160520" cy="73152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690872" y="2889504"/>
            <a:ext cx="566928" cy="1591056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690872" y="2889504"/>
            <a:ext cx="566928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017520"/>
            <a:ext cx="457200" cy="4572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349240" y="352958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Emergency System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5349240" y="3858768"/>
            <a:ext cx="3291840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349240" y="3931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instant SOS alerts with GPS location sharing required careful Firebase event handling, permission flows, and failsafe mechanisms for connectivity issues.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to extend the platform's reach and intelligence: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" y="1325880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325880"/>
            <a:ext cx="28163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" y="15087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536192"/>
            <a:ext cx="493776" cy="4937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581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93192" y="2130552"/>
            <a:ext cx="2578608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3192" y="2203704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app for wider access, offline support &amp; push notifications.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18688" y="1325880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1325880"/>
            <a:ext cx="2816352" cy="73152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55848" y="1508760"/>
            <a:ext cx="548640" cy="548640"/>
          </a:xfrm>
          <a:prstGeom prst="ellipse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36192"/>
            <a:ext cx="493776" cy="4937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23360" y="1581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Video Calls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355848" y="2130552"/>
            <a:ext cx="2578608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55848" y="2203704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telemedicine for direct doctor consultations within the platform.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181344" y="1325880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81344" y="1325880"/>
            <a:ext cx="2816352" cy="73152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18504" y="1508760"/>
            <a:ext cx="548640" cy="548640"/>
          </a:xfrm>
          <a:prstGeom prst="ellipse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536192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986016" y="1581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 Assistant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318504" y="2130552"/>
            <a:ext cx="2578608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18504" y="2203704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companion for hands-free tracking &amp; health Q&amp;A in regional languages.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256032" y="2990088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56032" y="2990088"/>
            <a:ext cx="2816352" cy="7315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93192" y="3172968"/>
            <a:ext cx="548640" cy="54864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200400"/>
            <a:ext cx="493776" cy="49377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60704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ML Models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393192" y="3794760"/>
            <a:ext cx="2578608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93192" y="386791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higher-accuracy disease prediction and risk stratification.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3218688" y="2990088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218688" y="2990088"/>
            <a:ext cx="28163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55848" y="317296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00400"/>
            <a:ext cx="493776" cy="49377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023360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 Integration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3355848" y="3794760"/>
            <a:ext cx="2578608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355848" y="386791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 with hospital systems for appointment booking &amp; test result sync.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6181344" y="2990088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9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181344" y="2990088"/>
            <a:ext cx="2816352" cy="73152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318504" y="3172968"/>
            <a:ext cx="548640" cy="548640"/>
          </a:xfrm>
          <a:prstGeom prst="ellipse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200400"/>
            <a:ext cx="493776" cy="49377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986016" y="3246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Multi-Language UI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6318504" y="3794760"/>
            <a:ext cx="2578608" cy="27432"/>
          </a:xfrm>
          <a:prstGeom prst="rect">
            <a:avLst/>
          </a:prstGeom>
          <a:solidFill>
            <a:srgbClr val="E8F0F2"/>
          </a:solidFill>
          <a:ln w="12700">
            <a:solidFill>
              <a:srgbClr val="E8F0F2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318504" y="386791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Bengali, and more regional languages for pan-India accessibility.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7498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87552"/>
            <a:ext cx="64008" cy="77724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097280"/>
            <a:ext cx="530352" cy="530352"/>
          </a:xfrm>
          <a:prstGeom prst="ellipse">
            <a:avLst/>
          </a:prstGeom>
          <a:solidFill>
            <a:srgbClr val="E05C7A">
              <a:alpha val="85000"/>
            </a:srgbClr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115568"/>
            <a:ext cx="475488" cy="4754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70432" y="1033272"/>
            <a:ext cx="1737360" cy="685800"/>
          </a:xfrm>
          <a:prstGeom prst="rect">
            <a:avLst/>
          </a:prstGeom>
          <a:solidFill>
            <a:srgbClr val="E05C7A">
              <a:alpha val="12000"/>
            </a:srgbClr>
          </a:solidFill>
          <a:ln w="12700">
            <a:solidFill>
              <a:srgbClr val="E05C7A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07008" y="10332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Holistic Platform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17520" y="1042416"/>
            <a:ext cx="56875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health tracking, AI prediction, exercise planning and emergency support into one integrated platform built for expecting mothers.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0040" y="1865376"/>
            <a:ext cx="850392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" y="1865376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1975104"/>
            <a:ext cx="530352" cy="530352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993392"/>
            <a:ext cx="475488" cy="475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170432" y="1911096"/>
            <a:ext cx="1737360" cy="6858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07008" y="1911096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Technology-Driven Care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017520" y="1920240"/>
            <a:ext cx="56875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advanced AI/ML with everyday maternal healthcare needs, especially for users in underserved areas with limited clinic access.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320040" y="2743200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0040" y="2743200"/>
            <a:ext cx="64008" cy="777240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2920" y="2852928"/>
            <a:ext cx="530352" cy="530352"/>
          </a:xfrm>
          <a:prstGeom prst="ellipse">
            <a:avLst/>
          </a:prstGeom>
          <a:solidFill>
            <a:srgbClr val="0A6E65">
              <a:alpha val="85000"/>
            </a:srgbClr>
          </a:solidFill>
          <a:ln w="12700">
            <a:solidFill>
              <a:srgbClr val="0A6E6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871216"/>
            <a:ext cx="475488" cy="47548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170432" y="2788920"/>
            <a:ext cx="1737360" cy="685800"/>
          </a:xfrm>
          <a:prstGeom prst="rect">
            <a:avLst/>
          </a:prstGeom>
          <a:solidFill>
            <a:srgbClr val="0A6E65">
              <a:alpha val="12000"/>
            </a:srgbClr>
          </a:solidFill>
          <a:ln w="12700">
            <a:solidFill>
              <a:srgbClr val="0A6E65">
                <a:alpha val="4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207008" y="2788920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E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Empowering Mothers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3017520" y="2798064"/>
            <a:ext cx="56875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data-driven insights and real-time guidance across all nine months, reducing anxiety and improving health outcomes.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320040" y="3621024"/>
            <a:ext cx="850392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E8F0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3621024"/>
            <a:ext cx="64008" cy="77724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02920" y="3730752"/>
            <a:ext cx="530352" cy="530352"/>
          </a:xfrm>
          <a:prstGeom prst="ellipse">
            <a:avLst/>
          </a:prstGeom>
          <a:solidFill>
            <a:srgbClr val="E05C7A">
              <a:alpha val="85000"/>
            </a:srgbClr>
          </a:solidFill>
          <a:ln w="12700">
            <a:solidFill>
              <a:srgbClr val="E05C7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749040"/>
            <a:ext cx="475488" cy="475488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1170432" y="3666744"/>
            <a:ext cx="1737360" cy="685800"/>
          </a:xfrm>
          <a:prstGeom prst="rect">
            <a:avLst/>
          </a:prstGeom>
          <a:solidFill>
            <a:srgbClr val="E05C7A">
              <a:alpha val="12000"/>
            </a:srgbClr>
          </a:solidFill>
          <a:ln w="12700">
            <a:solidFill>
              <a:srgbClr val="E05C7A">
                <a:alpha val="40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207008" y="3666744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Doctor Collaboration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3017520" y="3675888"/>
            <a:ext cx="568756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healthcare providers informed with automated alerts and structured health reports, enabling proactive intervention early.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320040" y="4517136"/>
            <a:ext cx="8503920" cy="45720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766560" y="274320"/>
            <a:ext cx="2103120" cy="21031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2880" y="2926080"/>
            <a:ext cx="1463040" cy="1463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463040" y="685800"/>
            <a:ext cx="6217920" cy="3520440"/>
          </a:xfrm>
          <a:prstGeom prst="rect">
            <a:avLst/>
          </a:prstGeom>
          <a:solidFill>
            <a:srgbClr val="FFFFFF">
              <a:alpha val="94000"/>
            </a:srgbClr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0" dist="76200" dir="8100000">
              <a:srgbClr val="000000">
                <a:alpha val="3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463040" y="82296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8" name="Shape 4"/>
          <p:cNvSpPr/>
          <p:nvPr/>
        </p:nvSpPr>
        <p:spPr>
          <a:xfrm>
            <a:off x="3200400" y="2057400"/>
            <a:ext cx="2743200" cy="64008"/>
          </a:xfrm>
          <a:prstGeom prst="rect">
            <a:avLst/>
          </a:prstGeom>
          <a:solidFill>
            <a:srgbClr val="E05C7A"/>
          </a:solidFill>
          <a:ln w="12700">
            <a:solidFill>
              <a:srgbClr val="E05C7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63040" y="21945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D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463040" y="28346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9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Motherhood Support System  ·  Smart Pregnancy Tracker &amp; Health Advisor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463040" y="3401568"/>
            <a:ext cx="6217920" cy="640080"/>
          </a:xfrm>
          <a:prstGeom prst="rect">
            <a:avLst/>
          </a:prstGeom>
          <a:solidFill>
            <a:srgbClr val="0A6E65"/>
          </a:solidFill>
          <a:ln w="12700">
            <a:solidFill>
              <a:srgbClr val="0A6E6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554480" y="3456432"/>
            <a:ext cx="6035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Ms. Ayushi Mittal   |   Shehzad Khan  ·  Ryan Javed  ·  Shivam Saroj  ·  Vinay Singh Yadav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Motherhood Support System</dc:title>
  <dc:subject>PptxGenJS Presentation</dc:subject>
  <dc:creator>PptxGenJS</dc:creator>
  <cp:lastModifiedBy>PptxGenJS</cp:lastModifiedBy>
  <cp:revision>1</cp:revision>
  <dcterms:created xsi:type="dcterms:W3CDTF">2026-03-10T08:11:00Z</dcterms:created>
  <dcterms:modified xsi:type="dcterms:W3CDTF">2026-03-10T08:11:00Z</dcterms:modified>
</cp:coreProperties>
</file>